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embeddedFontLst>
    <p:embeddedFont>
      <p:font typeface="Assistant"/>
      <p:regular r:id="rId14"/>
      <p:bold r:id="rId15"/>
    </p:embeddedFont>
    <p:embeddedFont>
      <p:font typeface="EB Garamond"/>
      <p:regular r:id="rId16"/>
      <p:bold r:id="rId17"/>
      <p:italic r:id="rId18"/>
      <p:boldItalic r:id="rId19"/>
    </p:embeddedFont>
    <p:embeddedFont>
      <p:font typeface="Noto Sans Symbols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Symbols-regular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NotoSansSymbols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Assistant-bold.fntdata"/><Relationship Id="rId14" Type="http://schemas.openxmlformats.org/officeDocument/2006/relationships/font" Target="fonts/Assistant-regular.fntdata"/><Relationship Id="rId17" Type="http://schemas.openxmlformats.org/officeDocument/2006/relationships/font" Target="fonts/EBGaramond-bold.fntdata"/><Relationship Id="rId16" Type="http://schemas.openxmlformats.org/officeDocument/2006/relationships/font" Target="fonts/EBGaramond-regular.fntdata"/><Relationship Id="rId5" Type="http://schemas.openxmlformats.org/officeDocument/2006/relationships/slide" Target="slides/slide1.xml"/><Relationship Id="rId19" Type="http://schemas.openxmlformats.org/officeDocument/2006/relationships/font" Target="fonts/EBGaramond-boldItalic.fntdata"/><Relationship Id="rId6" Type="http://schemas.openxmlformats.org/officeDocument/2006/relationships/slide" Target="slides/slide2.xml"/><Relationship Id="rId18" Type="http://schemas.openxmlformats.org/officeDocument/2006/relationships/font" Target="fonts/EBGaramond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ec64cd6a6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ec64cd6a6a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ec64cd6a6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g3ec64cd6a6a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ec64cd6a6a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ec64cd6a6a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ec64cd6a6a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ec64cd6a6a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c64cd6a6a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ec64cd6a6a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c64cd6a6a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ec64cd6a6a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c64cd6a6a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ec64cd6a6a_0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/>
          <p:nvPr/>
        </p:nvSpPr>
        <p:spPr>
          <a:xfrm>
            <a:off x="0" y="-53280"/>
            <a:ext cx="5778720" cy="519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" name="Google Shape;8;p2"/>
          <p:cNvSpPr txBox="1"/>
          <p:nvPr>
            <p:ph type="title"/>
          </p:nvPr>
        </p:nvSpPr>
        <p:spPr>
          <a:xfrm>
            <a:off x="713160" y="1169640"/>
            <a:ext cx="4523040" cy="280404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2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idx="1" type="body"/>
          </p:nvPr>
        </p:nvSpPr>
        <p:spPr>
          <a:xfrm>
            <a:off x="720000" y="1215720"/>
            <a:ext cx="7703640" cy="413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" name="Google Shape;12;p3"/>
          <p:cNvSpPr txBox="1"/>
          <p:nvPr>
            <p:ph type="title"/>
          </p:nvPr>
        </p:nvSpPr>
        <p:spPr>
          <a:xfrm>
            <a:off x="713160" y="542160"/>
            <a:ext cx="77173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" name="Google Shape;13;p3"/>
          <p:cNvSpPr/>
          <p:nvPr/>
        </p:nvSpPr>
        <p:spPr>
          <a:xfrm>
            <a:off x="0" y="0"/>
            <a:ext cx="9143640" cy="343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" type="blank">
  <p:cSld name="BLANK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/>
          <p:nvPr/>
        </p:nvSpPr>
        <p:spPr>
          <a:xfrm>
            <a:off x="0" y="0"/>
            <a:ext cx="4610520" cy="514332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" name="Google Shape;16;p4"/>
          <p:cNvSpPr txBox="1"/>
          <p:nvPr>
            <p:ph type="title"/>
          </p:nvPr>
        </p:nvSpPr>
        <p:spPr>
          <a:xfrm>
            <a:off x="5293800" y="1281240"/>
            <a:ext cx="3126240" cy="16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695160" y="782280"/>
            <a:ext cx="3220200" cy="3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3_1">
  <p:cSld name="CUSTOM_3_1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/>
          <p:nvPr/>
        </p:nvSpPr>
        <p:spPr>
          <a:xfrm>
            <a:off x="1544760" y="0"/>
            <a:ext cx="7608240" cy="51433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0" name="Google Shape;20;p5"/>
          <p:cNvSpPr txBox="1"/>
          <p:nvPr>
            <p:ph type="title"/>
          </p:nvPr>
        </p:nvSpPr>
        <p:spPr>
          <a:xfrm>
            <a:off x="3000600" y="555480"/>
            <a:ext cx="4696560" cy="12250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" name="Google Shape;21;p5"/>
          <p:cNvSpPr/>
          <p:nvPr/>
        </p:nvSpPr>
        <p:spPr>
          <a:xfrm>
            <a:off x="3000600" y="3611880"/>
            <a:ext cx="4696560" cy="5558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CREDITS: </a:t>
            </a:r>
            <a:r>
              <a:rPr b="0" i="0" lang="en-US" sz="10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This presentation template was created by </a:t>
            </a:r>
            <a:r>
              <a:rPr b="1" i="0" lang="en-US" sz="1000" u="sng" cap="none" strike="noStrike">
                <a:solidFill>
                  <a:schemeClr val="hlink"/>
                </a:solidFill>
                <a:latin typeface="Assistant"/>
                <a:ea typeface="Assistant"/>
                <a:cs typeface="Assistant"/>
                <a:sym typeface="Assistant"/>
                <a:hlinkClick r:id="rId2"/>
              </a:rPr>
              <a:t>Slidesgo</a:t>
            </a:r>
            <a:r>
              <a:rPr b="0" i="0" lang="en-US" sz="10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, and includes icons </a:t>
            </a:r>
            <a:endParaRPr b="0" i="0" sz="1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by </a:t>
            </a:r>
            <a:r>
              <a:rPr b="1" i="0" lang="en-US" sz="1000" u="sng" cap="none" strike="noStrike">
                <a:solidFill>
                  <a:schemeClr val="hlink"/>
                </a:solidFill>
                <a:latin typeface="Assistant"/>
                <a:ea typeface="Assistant"/>
                <a:cs typeface="Assistant"/>
                <a:sym typeface="Assistant"/>
                <a:hlinkClick r:id="rId3"/>
              </a:rPr>
              <a:t>Flaticon</a:t>
            </a:r>
            <a:r>
              <a:rPr b="0" i="0" lang="en-US" sz="10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, and infographics &amp; images by </a:t>
            </a:r>
            <a:r>
              <a:rPr b="1" i="0" lang="en-US" sz="1000" u="sng" cap="none" strike="noStrike">
                <a:solidFill>
                  <a:schemeClr val="hlink"/>
                </a:solidFill>
                <a:latin typeface="Assistant"/>
                <a:ea typeface="Assistant"/>
                <a:cs typeface="Assistant"/>
                <a:sym typeface="Assistant"/>
                <a:hlinkClick r:id="rId4"/>
              </a:rPr>
              <a:t>Freepik</a:t>
            </a:r>
            <a:r>
              <a:rPr b="1" i="0" lang="en-US" sz="1000" u="sng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endParaRPr b="0" i="0" sz="1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/>
          <p:nvPr/>
        </p:nvSpPr>
        <p:spPr>
          <a:xfrm>
            <a:off x="714250" y="1012050"/>
            <a:ext cx="4524000" cy="1747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EBE7E0"/>
                </a:solidFill>
                <a:latin typeface="EB Garamond"/>
                <a:ea typeface="EB Garamond"/>
                <a:cs typeface="EB Garamond"/>
                <a:sym typeface="EB Garamond"/>
              </a:rPr>
              <a:t>E-Commerce</a:t>
            </a:r>
            <a:endParaRPr b="1" sz="5100">
              <a:solidFill>
                <a:srgbClr val="EBE7E0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0" rtl="0" algn="l">
              <a:lnSpc>
                <a:spcPct val="7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EBE7E0"/>
                </a:solidFill>
                <a:latin typeface="EB Garamond"/>
                <a:ea typeface="EB Garamond"/>
                <a:cs typeface="EB Garamond"/>
                <a:sym typeface="EB Garamond"/>
              </a:rPr>
              <a:t>Marketplace Dashboard</a:t>
            </a:r>
            <a:endParaRPr b="0" i="0" sz="51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7" name="Google Shape;27;p6"/>
          <p:cNvSpPr/>
          <p:nvPr/>
        </p:nvSpPr>
        <p:spPr>
          <a:xfrm>
            <a:off x="5679300" y="4202900"/>
            <a:ext cx="31314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73344"/>
                </a:solidFill>
                <a:latin typeface="Assistant"/>
                <a:ea typeface="Assistant"/>
                <a:cs typeface="Assistant"/>
                <a:sym typeface="Assistant"/>
              </a:rPr>
              <a:t>By Matthew Grega and Drew Pickett</a:t>
            </a:r>
            <a:endParaRPr b="0" i="0" sz="14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/>
          <p:nvPr/>
        </p:nvSpPr>
        <p:spPr>
          <a:xfrm>
            <a:off x="476275" y="476272"/>
            <a:ext cx="8191200" cy="5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40">
                <a:solidFill>
                  <a:srgbClr val="373344"/>
                </a:solidFill>
                <a:latin typeface="EB Garamond"/>
                <a:ea typeface="EB Garamond"/>
                <a:cs typeface="EB Garamond"/>
                <a:sym typeface="EB Garamond"/>
              </a:rPr>
              <a:t>Project Overview</a:t>
            </a:r>
            <a:endParaRPr b="0" i="0" sz="304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3" name="Google Shape;33;p7"/>
          <p:cNvSpPr/>
          <p:nvPr/>
        </p:nvSpPr>
        <p:spPr>
          <a:xfrm>
            <a:off x="476275" y="1131025"/>
            <a:ext cx="83820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A database-backed dashboard for an online marketplace </a:t>
            </a:r>
            <a:r>
              <a:rPr lang="en-US" sz="17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that helps analyze customer and product activity and provides insight that supports business decisions </a:t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4" name="Google Shape;34;p7"/>
          <p:cNvSpPr/>
          <p:nvPr/>
        </p:nvSpPr>
        <p:spPr>
          <a:xfrm>
            <a:off x="476275" y="2214400"/>
            <a:ext cx="8382000" cy="22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EB Garamond"/>
                <a:ea typeface="EB Garamond"/>
                <a:cs typeface="EB Garamond"/>
                <a:sym typeface="EB Garamond"/>
              </a:rPr>
              <a:t>Catalog</a:t>
            </a:r>
            <a:r>
              <a:rPr lang="en-US" sz="1500">
                <a:latin typeface="EB Garamond"/>
                <a:ea typeface="EB Garamond"/>
                <a:cs typeface="EB Garamond"/>
                <a:sym typeface="EB Garamond"/>
              </a:rPr>
              <a:t> — products organized into categories (Electronics, Apparel, Home &amp; Kitchen, Books, etc.), each with pricing and descriptions</a:t>
            </a:r>
            <a:endParaRPr sz="15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EB Garamond"/>
                <a:ea typeface="EB Garamond"/>
                <a:cs typeface="EB Garamond"/>
                <a:sym typeface="EB Garamond"/>
              </a:rPr>
              <a:t>Stock</a:t>
            </a:r>
            <a:r>
              <a:rPr lang="en-US" sz="1500">
                <a:latin typeface="EB Garamond"/>
                <a:ea typeface="EB Garamond"/>
                <a:cs typeface="EB Garamond"/>
                <a:sym typeface="EB Garamond"/>
              </a:rPr>
              <a:t> — inventory levels tracked per product</a:t>
            </a:r>
            <a:endParaRPr sz="15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EB Garamond"/>
                <a:ea typeface="EB Garamond"/>
                <a:cs typeface="EB Garamond"/>
                <a:sym typeface="EB Garamond"/>
              </a:rPr>
              <a:t>Customers</a:t>
            </a:r>
            <a:r>
              <a:rPr lang="en-US" sz="1500">
                <a:latin typeface="EB Garamond"/>
                <a:ea typeface="EB Garamond"/>
                <a:cs typeface="EB Garamond"/>
                <a:sym typeface="EB Garamond"/>
              </a:rPr>
              <a:t> — both registered users (with accounts) and guest users (checkout without signing up)</a:t>
            </a:r>
            <a:endParaRPr sz="15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EB Garamond"/>
                <a:ea typeface="EB Garamond"/>
                <a:cs typeface="EB Garamond"/>
                <a:sym typeface="EB Garamond"/>
              </a:rPr>
              <a:t>Sales</a:t>
            </a:r>
            <a:r>
              <a:rPr lang="en-US" sz="1500">
                <a:latin typeface="EB Garamond"/>
                <a:ea typeface="EB Garamond"/>
                <a:cs typeface="EB Garamond"/>
                <a:sym typeface="EB Garamond"/>
              </a:rPr>
              <a:t> — transactions and the individual line items within each order</a:t>
            </a:r>
            <a:endParaRPr sz="15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EB Garamond"/>
                <a:ea typeface="EB Garamond"/>
                <a:cs typeface="EB Garamond"/>
                <a:sym typeface="EB Garamond"/>
              </a:rPr>
              <a:t>Feedback</a:t>
            </a:r>
            <a:r>
              <a:rPr lang="en-US" sz="1500">
                <a:latin typeface="EB Garamond"/>
                <a:ea typeface="EB Garamond"/>
                <a:cs typeface="EB Garamond"/>
                <a:sym typeface="EB Garamond"/>
              </a:rPr>
              <a:t> — product reviews and ratings from users</a:t>
            </a:r>
            <a:endParaRPr sz="15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/>
          <p:nvPr/>
        </p:nvSpPr>
        <p:spPr>
          <a:xfrm>
            <a:off x="476275" y="476272"/>
            <a:ext cx="8191200" cy="5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40">
                <a:solidFill>
                  <a:srgbClr val="373344"/>
                </a:solidFill>
                <a:latin typeface="EB Garamond"/>
                <a:ea typeface="EB Garamond"/>
                <a:cs typeface="EB Garamond"/>
                <a:sym typeface="EB Garamond"/>
              </a:rPr>
              <a:t>Analysis Phase</a:t>
            </a:r>
            <a:endParaRPr b="0" i="0" sz="304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0" name="Google Shape;40;p8"/>
          <p:cNvSpPr/>
          <p:nvPr/>
        </p:nvSpPr>
        <p:spPr>
          <a:xfrm>
            <a:off x="381000" y="1088100"/>
            <a:ext cx="8382000" cy="3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EB Garamond"/>
              <a:buChar char="●"/>
            </a:pPr>
            <a:r>
              <a:rPr lang="en-US" sz="1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Identified the core entities : Category, Product, Inventory, User, Transaction, Review. </a:t>
            </a:r>
            <a:endParaRPr sz="1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23850" lvl="0" marL="4572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EB Garamond"/>
              <a:buChar char="●"/>
            </a:pPr>
            <a:r>
              <a:rPr lang="en-US" sz="1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Defined attributes for each : Product has a name, price, description, and date added; a Transaction has a date and total price.</a:t>
            </a:r>
            <a:endParaRPr sz="1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23850" lvl="0" marL="4572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EB Garamond"/>
              <a:buChar char="●"/>
            </a:pPr>
            <a:r>
              <a:rPr lang="en-US" sz="1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Worked out the relationships and business rules between them: </a:t>
            </a:r>
            <a:endParaRPr sz="1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23850" lvl="1" marL="9144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EB Garamond"/>
              <a:buChar char="○"/>
            </a:pPr>
            <a:r>
              <a:rPr lang="en-US" sz="1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A product belongs to one category; a category has many products</a:t>
            </a:r>
            <a:endParaRPr sz="1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23850" lvl="1" marL="9144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EB Garamond"/>
              <a:buChar char="○"/>
            </a:pPr>
            <a:r>
              <a:rPr lang="en-US" sz="1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A product has inventory tracking how much is in stock</a:t>
            </a:r>
            <a:endParaRPr sz="1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23850" lvl="1" marL="9144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EB Garamond"/>
              <a:buChar char="○"/>
            </a:pPr>
            <a:r>
              <a:rPr lang="en-US" sz="1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A user can be either a registered account or a guest</a:t>
            </a:r>
            <a:endParaRPr sz="1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23850" lvl="1" marL="9144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EB Garamond"/>
              <a:buChar char="○"/>
            </a:pPr>
            <a:r>
              <a:rPr lang="en-US" sz="1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etc.</a:t>
            </a:r>
            <a:endParaRPr sz="1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23850" lvl="0" marL="4572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EB Garamond"/>
              <a:buChar char="●"/>
            </a:pPr>
            <a:r>
              <a:rPr lang="en-US" sz="1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Other Assumptions</a:t>
            </a:r>
            <a:endParaRPr sz="1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23850" lvl="1" marL="9144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EB Garamond"/>
              <a:buChar char="○"/>
            </a:pPr>
            <a:r>
              <a:rPr lang="en-US" sz="1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Product's price is recorded at the time of purchase, so past orders keep their original price even if the product's price changes later. </a:t>
            </a:r>
            <a:endParaRPr sz="1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76275" y="476272"/>
            <a:ext cx="8191200" cy="5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40">
                <a:solidFill>
                  <a:srgbClr val="373344"/>
                </a:solidFill>
                <a:latin typeface="EB Garamond"/>
                <a:ea typeface="EB Garamond"/>
                <a:cs typeface="EB Garamond"/>
                <a:sym typeface="EB Garamond"/>
              </a:rPr>
              <a:t>Logical Model: Unnormalized</a:t>
            </a:r>
            <a:endParaRPr b="0" i="0" sz="304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6" name="Google Shape;46;p9"/>
          <p:cNvSpPr/>
          <p:nvPr/>
        </p:nvSpPr>
        <p:spPr>
          <a:xfrm>
            <a:off x="476275" y="1131025"/>
            <a:ext cx="8382000" cy="4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One Order Row Might Contain:</a:t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47" name="Google Shape;47;p9"/>
          <p:cNvSpPr/>
          <p:nvPr/>
        </p:nvSpPr>
        <p:spPr>
          <a:xfrm>
            <a:off x="476275" y="1690675"/>
            <a:ext cx="8382000" cy="22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EB Garamond"/>
              <a:buChar char="●"/>
            </a:pPr>
            <a:r>
              <a:rPr lang="en-US" sz="20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Customer name and details</a:t>
            </a:r>
            <a:endParaRPr sz="20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0" marL="4572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EB Garamond"/>
              <a:buChar char="●"/>
            </a:pPr>
            <a:r>
              <a:rPr lang="en-US" sz="20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Order date and total</a:t>
            </a:r>
            <a:endParaRPr sz="20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0" marL="4572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EB Garamond"/>
              <a:buChar char="●"/>
            </a:pPr>
            <a:r>
              <a:rPr lang="en-US" sz="20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Product 1 name, price, quantity</a:t>
            </a:r>
            <a:endParaRPr sz="20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0" marL="4572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EB Garamond"/>
              <a:buChar char="●"/>
            </a:pPr>
            <a:r>
              <a:rPr lang="en-US" sz="20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Product 2 name, price, quantity</a:t>
            </a:r>
            <a:endParaRPr sz="20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0" marL="4572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EB Garamond"/>
              <a:buChar char="●"/>
            </a:pPr>
            <a:r>
              <a:rPr lang="en-US" sz="20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Product 3 name, price, quantity etc.</a:t>
            </a:r>
            <a:endParaRPr sz="20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/>
          <p:nvPr/>
        </p:nvSpPr>
        <p:spPr>
          <a:xfrm>
            <a:off x="476275" y="476272"/>
            <a:ext cx="8191200" cy="5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40">
                <a:solidFill>
                  <a:srgbClr val="373344"/>
                </a:solidFill>
                <a:latin typeface="EB Garamond"/>
                <a:ea typeface="EB Garamond"/>
                <a:cs typeface="EB Garamond"/>
                <a:sym typeface="EB Garamond"/>
              </a:rPr>
              <a:t>Logical Model: Normalized</a:t>
            </a:r>
            <a:endParaRPr b="0" i="0" sz="304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3" name="Google Shape;53;p10"/>
          <p:cNvSpPr/>
          <p:nvPr/>
        </p:nvSpPr>
        <p:spPr>
          <a:xfrm>
            <a:off x="476275" y="964400"/>
            <a:ext cx="8382000" cy="41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●"/>
            </a:pP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First Normal Form: eliminate repeating groups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1" marL="9144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○"/>
            </a:pP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Each row holds a single value per column.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1" marL="9144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○"/>
            </a:pP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Every line item becomes its own row in a separate TransactionItem table.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●"/>
            </a:pP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Second Normal Form: remove partial dependencies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1" marL="9144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○"/>
            </a:pP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Every non-key column depends on the whole key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1" marL="9144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○"/>
            </a:pP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Product details don't belong in the line-item table and  move into their own Product table. 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1" marL="9144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○"/>
            </a:pP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The line item keeps only what's specific to that purchase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●"/>
            </a:pP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Third Normal Form : remove transitive dependencies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1" marL="9144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○"/>
            </a:pP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No non-key column depends on another non-key column. 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1" marL="9144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○"/>
            </a:pP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A product's category name shouldn't live on the Product table 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1" marL="9144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○"/>
            </a:pP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Category becomes its own table referenced by ID.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1" marL="9144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○"/>
            </a:pP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Customer details likewise move out into the User table.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/>
          <p:nvPr/>
        </p:nvSpPr>
        <p:spPr>
          <a:xfrm>
            <a:off x="476400" y="404897"/>
            <a:ext cx="8191200" cy="5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40">
                <a:solidFill>
                  <a:srgbClr val="373344"/>
                </a:solidFill>
                <a:latin typeface="EB Garamond"/>
                <a:ea typeface="EB Garamond"/>
                <a:cs typeface="EB Garamond"/>
                <a:sym typeface="EB Garamond"/>
              </a:rPr>
              <a:t>Logical Model: Normalized (Cont)</a:t>
            </a:r>
            <a:endParaRPr b="0" i="0" sz="304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9" name="Google Shape;59;p11"/>
          <p:cNvSpPr/>
          <p:nvPr/>
        </p:nvSpPr>
        <p:spPr>
          <a:xfrm>
            <a:off x="476400" y="1398900"/>
            <a:ext cx="8382000" cy="23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●"/>
            </a:pP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Boyce-Codd Normal Form: every determinant must be a candidate key 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1" marL="9144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○"/>
            </a:pP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Any column that determines another column must itself be a key.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1" marL="9144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○"/>
            </a:pP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For example  in Product, the only thing determining the other columns is the primary key 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●"/>
            </a:pP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Fourth Normal Form: no multivalued dependencies 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1" marL="9144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○"/>
            </a:pP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No table stores two independent one-to-many facts about the same entity.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1" marL="9144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○"/>
            </a:pP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Eg. transactions and their reviews into one table (two unrelated facts about users)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9144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/>
          <p:nvPr/>
        </p:nvSpPr>
        <p:spPr>
          <a:xfrm>
            <a:off x="476275" y="476272"/>
            <a:ext cx="8191200" cy="5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40">
                <a:solidFill>
                  <a:srgbClr val="373344"/>
                </a:solidFill>
                <a:latin typeface="EB Garamond"/>
                <a:ea typeface="EB Garamond"/>
                <a:cs typeface="EB Garamond"/>
                <a:sym typeface="EB Garamond"/>
              </a:rPr>
              <a:t>ERD</a:t>
            </a:r>
            <a:endParaRPr b="0" i="0" sz="304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65" name="Google Shape;65;p12" title="ERD_crowsfoot_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6400" y="530850"/>
            <a:ext cx="4071926" cy="428920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2"/>
          <p:cNvSpPr txBox="1"/>
          <p:nvPr/>
        </p:nvSpPr>
        <p:spPr>
          <a:xfrm>
            <a:off x="-508100" y="1035775"/>
            <a:ext cx="4490100" cy="25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1" marL="9144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EB Garamond"/>
              <a:buChar char="○"/>
            </a:pPr>
            <a:r>
              <a:rPr lang="en-US" sz="1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A product belongs to one category; a category has many products</a:t>
            </a:r>
            <a:endParaRPr sz="1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23850" lvl="1" marL="9144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EB Garamond"/>
              <a:buChar char="○"/>
            </a:pPr>
            <a:r>
              <a:rPr lang="en-US" sz="1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A product has inventory tracking how much is in stock</a:t>
            </a:r>
            <a:endParaRPr sz="1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23850" lvl="1" marL="9144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EB Garamond"/>
              <a:buChar char="○"/>
            </a:pPr>
            <a:r>
              <a:rPr lang="en-US" sz="1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A user can be either a registered account or a guest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7" name="Google Shape;67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8975" y="3126300"/>
            <a:ext cx="3192550" cy="201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/>
          <p:nvPr/>
        </p:nvSpPr>
        <p:spPr>
          <a:xfrm>
            <a:off x="476275" y="476272"/>
            <a:ext cx="8191200" cy="5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40">
                <a:solidFill>
                  <a:srgbClr val="373344"/>
                </a:solidFill>
                <a:latin typeface="EB Garamond"/>
                <a:ea typeface="EB Garamond"/>
                <a:cs typeface="EB Garamond"/>
                <a:sym typeface="EB Garamond"/>
              </a:rPr>
              <a:t>ERD to Database</a:t>
            </a:r>
            <a:endParaRPr b="0" i="0" sz="304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3" name="Google Shape;73;p13"/>
          <p:cNvSpPr/>
          <p:nvPr/>
        </p:nvSpPr>
        <p:spPr>
          <a:xfrm>
            <a:off x="476275" y="1035775"/>
            <a:ext cx="8382000" cy="41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●"/>
            </a:pP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Tables built in </a:t>
            </a: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dependency</a:t>
            </a: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order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●"/>
            </a:pP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ERD PK’s were Auto Increment Primary Keys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●"/>
            </a:pP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Each crows foot is a Foreign Key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●"/>
            </a:pP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Implemented the User Supertype and Registered/Guest Subtypes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●"/>
            </a:pP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CASCADE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1" marL="9144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○"/>
            </a:pP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Inventory, User Subtypes, and Reviews are removed with parent.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●"/>
            </a:pP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RESTRICT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1" marL="9144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○"/>
            </a:pP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User/Product can’t be deleted while tied to a transaction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●"/>
            </a:pP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SET NULL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1" marL="9144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○"/>
            </a:pP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A product survives if category is deleted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●"/>
            </a:pP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Seeded with AI test data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/>
          <p:nvPr/>
        </p:nvSpPr>
        <p:spPr>
          <a:xfrm>
            <a:off x="476275" y="476272"/>
            <a:ext cx="8191200" cy="5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40">
                <a:solidFill>
                  <a:srgbClr val="373344"/>
                </a:solidFill>
                <a:latin typeface="EB Garamond"/>
                <a:ea typeface="EB Garamond"/>
                <a:cs typeface="EB Garamond"/>
                <a:sym typeface="EB Garamond"/>
              </a:rPr>
              <a:t>DashBoard Demo</a:t>
            </a:r>
            <a:endParaRPr b="0" i="0" sz="304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476275" y="1690675"/>
            <a:ext cx="8382000" cy="22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80" name="Google Shape;80;p14" title="Dashbo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8649" y="1023588"/>
            <a:ext cx="6506698" cy="3548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keting Vision and Strategy by Slidesgo">
  <a:themeElements>
    <a:clrScheme name="Simple Light">
      <a:dk1>
        <a:srgbClr val="373344"/>
      </a:dk1>
      <a:lt1>
        <a:srgbClr val="EBE7E0"/>
      </a:lt1>
      <a:dk2>
        <a:srgbClr val="58536E"/>
      </a:dk2>
      <a:lt2>
        <a:srgbClr val="514B66"/>
      </a:lt2>
      <a:accent1>
        <a:srgbClr val="D2C5BC"/>
      </a:accent1>
      <a:accent2>
        <a:srgbClr val="AAAAAA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7334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